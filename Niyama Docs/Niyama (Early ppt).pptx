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67" r:id="rId14"/>
    <p:sldId id="269" r:id="rId15"/>
    <p:sldId id="276" r:id="rId16"/>
    <p:sldId id="270" r:id="rId17"/>
    <p:sldId id="271" r:id="rId18"/>
    <p:sldId id="272" r:id="rId19"/>
    <p:sldId id="277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CF5E2-B6D7-93F2-B722-140A69788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AE596-9C05-EBF5-3438-08EAEBDD5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84D8A-7975-B11E-51EA-926D88B5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F6704-65EA-CFC3-4F3F-6BA4264E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764A4-FC48-4274-A47F-43223024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1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EC72-A65F-989D-F35D-BA06B186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2A2C-F790-C337-1961-41AD3A9B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32ED9-D74C-437C-6A4D-5576CA96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7C6A3-8614-95C7-52D2-144A6F7F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07E4F-81A5-D45C-062D-938AFFEE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92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86FC2-DC5F-B3F7-0947-4F15985C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6754E-C04D-E5E2-95FB-D40029314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2C29-B02E-E65C-B38C-96026495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EBA5-4A06-8DFC-77D4-0EA68809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7B695-EB33-2942-4C03-FAED3CC17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9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9DF5-EF97-B7AF-363F-7EA38DAD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EE95-3DC1-A71A-BEE5-1BFFBA0B4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57BAB-BEB6-B4D2-E101-088A4DCB8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14085-4B45-BA79-0209-41D9AE6F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A1812-8378-9190-ACEC-150FFACD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9C344-F5BB-A6A9-24FB-9E5058E40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8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214C-A31D-6EAF-3861-1A444495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9D582-D409-EE76-11B4-80E756A7A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DC14F-F949-2EAB-3522-CE6ECABD6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0F1F9-7E93-9804-4B8E-AF9741AAC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DD75F-9790-B009-4807-3B60F97E0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EC5DF-17F3-735F-B1D9-9F6FCFA3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C566B-56DC-732C-CDD2-02C6CA56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623336-425F-D6BB-5C1E-ECF39731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5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A5A4-C50E-3777-BAFE-055C2D64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3C500-6A9F-32B0-7404-7734FA6E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B6A28-7D4D-27DD-0A65-226142029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5EB36-5DA4-3404-14F9-D884FAF7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4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7ADD5-F9DE-0272-79AD-8BD7D835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58850-DD1D-9D03-DA35-74708C67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B4793-5155-5A1C-3447-806AD8DA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1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5938D-841F-04ED-A0C2-2AC90120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85F42-3F73-A307-5723-58741149C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ECF50-9D2C-AC08-2A2D-D2CE2B9D7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A7769-4541-14AA-CF7C-3EA5065C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FC660-A0CE-A695-F29A-DCF3431E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96D30-9258-7914-9936-2F4470B2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7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0656-58AB-BED1-EB1F-159E544C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79AE02-3B45-C3D2-4015-61BDFDF5C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6280E-4B1E-63CE-812E-FB2D4E65D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013C4-0DF7-A673-8B2E-854F67FD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E5740-A690-15C8-FB34-92855469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4989-A252-0314-0120-A1B62F60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4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B227-CE4C-D165-2CC7-1A13A5ED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9491-7F06-4F39-110A-E018EE39F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9F4CC-5823-1382-7FE7-059C44294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DB670-E3D8-65F9-7926-F026DC9F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B378C-6F36-A73B-8852-E366C486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1F1A2-5C09-3EF7-46E7-8F11D3499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60C26-ECB9-DC21-821F-3897CC24E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0F096-5C48-9FF3-6E0F-619386AD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B397B-090A-8178-8CAA-0BB113A2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838D5-B091-48FE-DE2A-015DE12C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0A8F4-EDC2-EC2C-F48E-981EBB7FF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3AD5B-5AA4-EBA6-F838-4E7AA82C6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8AC31-3164-1FA1-28D1-128CB481F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7FF3C-7517-AB46-A757-687227BB635C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CF59F-FF7F-FF06-E7F8-937D011A0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F82D-6F80-0EED-A54D-D75031387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5D459-267E-204A-A3D5-171168F7D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2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3CF9-9EE2-A971-F81C-5127238CD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7690"/>
            <a:ext cx="9144000" cy="2387600"/>
          </a:xfrm>
        </p:spPr>
        <p:txBody>
          <a:bodyPr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Niyama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FEA8C-6D22-4DB4-6256-EFCDEC2C7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8171"/>
            <a:ext cx="9144000" cy="209352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Rewarding Good Behaviour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behavior-verified habit platform that turns discipline into real-world rewards.</a:t>
            </a:r>
          </a:p>
        </p:txBody>
      </p:sp>
    </p:spTree>
    <p:extLst>
      <p:ext uri="{BB962C8B-B14F-4D97-AF65-F5344CB8AC3E}">
        <p14:creationId xmlns:p14="http://schemas.microsoft.com/office/powerpoint/2010/main" val="53339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B7B6-2BC5-ABC8-151F-34C03328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2CE11-B9E9-9AD5-B4DA-B71D21FF5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Modern users struggle with: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Screen addiction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Irregular sleep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Inconsistent routines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Low follow-through on habits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Existing habit apps rely on: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Self-reporting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Motivation and affirmations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Streaks without consequences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Result:</a:t>
            </a:r>
            <a:r>
              <a:rPr lang="en-US" dirty="0"/>
              <a:t> High churn, low consistency, weak accountability.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5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4337-6BEC-16A6-C5F5-37CAA968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Why Existing Solutions Fall Short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C160-66D8-2910-B6EA-E12DCB826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Motivation fades quickly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real accountability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“cheat”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tangible reward for consistency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Apps help users </a:t>
            </a:r>
            <a:r>
              <a:rPr lang="en-US" i="1" dirty="0"/>
              <a:t>feel motivated</a:t>
            </a:r>
            <a:r>
              <a:rPr lang="en-US" dirty="0"/>
              <a:t> — not </a:t>
            </a:r>
            <a:r>
              <a:rPr lang="en-US" i="1" dirty="0"/>
              <a:t>stay disciplined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7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E4C30-76D2-4607-71E9-080F347B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The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2E118-23A9-A5EE-D394-E16FB29B5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Behavior change sticks when: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Habits are measurable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Proof replaces intent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Rewards are tangible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Motivation compounds over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Intrinsic motivation works </a:t>
            </a:r>
            <a:r>
              <a:rPr lang="en-US" i="1" dirty="0"/>
              <a:t>after</a:t>
            </a:r>
            <a:r>
              <a:rPr lang="en-US" dirty="0"/>
              <a:t> habits form — not before.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30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D2EA-02A8-C510-1383-A83D5DA0F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The Solution: Niyama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50B90-869B-3DEE-96AA-0597264D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Niyama is a behavior-verified habit app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Tracks real actions via phone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Rewards consistency with real-world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Builds discipline before motivation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Core idea: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Do the habit → earn points → redeem real rewards → repeat.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44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97F9-8FD8-0BD3-C238-33BBB17E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Core Habits Tracked (MVP)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C8484-29D1-EF86-E348-6657822F9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Hard-to-fake, system-verified behaviors: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Wake before 8:00 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screen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Steps (5k / 8k / 10k)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Sleep by 10:30 PM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user-opted behaviors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Designed to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Binary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scam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64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5D9C-C40A-EEEB-4FA6-5450FF88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Anti-Cheat &amp;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3FC91-99C5-4DD8-E346-72EF306E2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 Time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 &amp; step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Time-based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Daily &amp; monthly caps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Rewards unlock only when </a:t>
            </a:r>
            <a:r>
              <a:rPr lang="en-US" b="1" dirty="0"/>
              <a:t>behavior actually happens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865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01B6-92F7-876F-9C17-E9CF7CF7F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Motivation Model </a:t>
            </a:r>
            <a:br>
              <a:rPr lang="en-US" b="1" dirty="0"/>
            </a:br>
            <a:r>
              <a:rPr lang="en-US" b="1" dirty="0"/>
              <a:t>(Points &amp; Rewards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49018-71B2-2F03-FA04-C2EAA9C82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937"/>
            <a:ext cx="10515600" cy="46578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Extrinsic → Intrinsic Flywheel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External rewards kickstart discipline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Consistency builds habit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Habit builds identity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Rewards become secondary over time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Conversion: 1000 points = $1.00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Monthly reward is based on:</a:t>
            </a:r>
          </a:p>
          <a:p>
            <a:pPr marL="114300" marR="0" indent="-34290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Total accumulated points</a:t>
            </a:r>
          </a:p>
          <a:p>
            <a:pPr marL="114300" marR="0" indent="-34290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Subject to cap by subscription tier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US" dirty="0"/>
          </a:p>
          <a:p>
            <a:pPr marL="0" indent="0">
              <a:buNone/>
            </a:pPr>
            <a:r>
              <a:rPr lang="en-US" dirty="0"/>
              <a:t>Rewards are </a:t>
            </a:r>
            <a:r>
              <a:rPr lang="en-US" b="1" dirty="0"/>
              <a:t>earned</a:t>
            </a:r>
            <a:r>
              <a:rPr lang="en-US" dirty="0"/>
              <a:t>, not guaranteed.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750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CCEDA-574C-FE62-A348-1ED2B48CF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4FAF-01B4-C544-3417-F967A592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Motivation Model </a:t>
            </a:r>
            <a:br>
              <a:rPr lang="en-US" b="1" dirty="0"/>
            </a:br>
            <a:r>
              <a:rPr lang="en-US" b="1" dirty="0"/>
              <a:t>(Points &amp; Rewards System)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EE5400A-11BF-944A-7525-0C8C6DB59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59780"/>
              </p:ext>
            </p:extLst>
          </p:nvPr>
        </p:nvGraphicFramePr>
        <p:xfrm>
          <a:off x="785037" y="2226784"/>
          <a:ext cx="5027429" cy="2355850"/>
        </p:xfrm>
        <a:graphic>
          <a:graphicData uri="http://schemas.openxmlformats.org/drawingml/2006/table">
            <a:tbl>
              <a:tblPr/>
              <a:tblGrid>
                <a:gridCol w="2915814">
                  <a:extLst>
                    <a:ext uri="{9D8B030D-6E8A-4147-A177-3AD203B41FA5}">
                      <a16:colId xmlns:a16="http://schemas.microsoft.com/office/drawing/2014/main" val="526096183"/>
                    </a:ext>
                  </a:extLst>
                </a:gridCol>
                <a:gridCol w="2111615">
                  <a:extLst>
                    <a:ext uri="{9D8B030D-6E8A-4147-A177-3AD203B41FA5}">
                      <a16:colId xmlns:a16="http://schemas.microsoft.com/office/drawing/2014/main" val="2990664665"/>
                    </a:ext>
                  </a:extLst>
                </a:gridCol>
              </a:tblGrid>
              <a:tr h="471170">
                <a:tc>
                  <a:txBody>
                    <a:bodyPr/>
                    <a:lstStyle/>
                    <a:p>
                      <a:r>
                        <a:rPr lang="en-US" sz="2000"/>
                        <a:t>Habit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Points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563121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r>
                        <a:rPr lang="en-US" sz="2000" dirty="0"/>
                        <a:t>Wake before 8 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+150 / -150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494268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r>
                        <a:rPr lang="en-US" sz="2000"/>
                        <a:t>Sleep before 10:30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+150 / -150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402328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r>
                        <a:rPr lang="en-US" sz="2000"/>
                        <a:t>Screen time &lt; 2h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+100 / -100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020847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r>
                        <a:rPr lang="en-US" sz="2000" dirty="0"/>
                        <a:t>Steps ≥ 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+100 / -100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627139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AD918DDD-6491-C254-6A82-867378273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38" y="1746491"/>
            <a:ext cx="317027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HABIT POINT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622BA3F7-F9F6-241F-1765-97474295E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9535" y="1746491"/>
            <a:ext cx="545627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POINT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possible: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points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possible: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1000 points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 day: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500 + 150 + 150 + 100 + 100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1000 points ($1.00)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day (2 good, 2 bad):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500 +150 -150 +100 -100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500 points ($0.50)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Bad day: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500 -150 -150 -100 -100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points ($0.00)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1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6D39-6084-C7A8-867E-658B26AE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Point Deductions (Fair &amp; Humane)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6E0A2-DA17-830F-C79B-3B99BFCDE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Mostly missed rewards, not punishment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Small, capped deductions for overuse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 time and sleep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negative balances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loss of already-earned rewards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Philosophy:</a:t>
            </a:r>
            <a:r>
              <a:rPr lang="en-US" dirty="0"/>
              <a:t> Reward discipline, not perfection.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18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BD68-7370-C621-8BE8-4F9A7A62F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Membership Tiers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A0A08C-3C65-0ACC-514A-8A69085DB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428850"/>
              </p:ext>
            </p:extLst>
          </p:nvPr>
        </p:nvGraphicFramePr>
        <p:xfrm>
          <a:off x="2443975" y="1690688"/>
          <a:ext cx="7012260" cy="146304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37420">
                  <a:extLst>
                    <a:ext uri="{9D8B030D-6E8A-4147-A177-3AD203B41FA5}">
                      <a16:colId xmlns:a16="http://schemas.microsoft.com/office/drawing/2014/main" val="2545588468"/>
                    </a:ext>
                  </a:extLst>
                </a:gridCol>
                <a:gridCol w="2337420">
                  <a:extLst>
                    <a:ext uri="{9D8B030D-6E8A-4147-A177-3AD203B41FA5}">
                      <a16:colId xmlns:a16="http://schemas.microsoft.com/office/drawing/2014/main" val="3270616377"/>
                    </a:ext>
                  </a:extLst>
                </a:gridCol>
                <a:gridCol w="2337420">
                  <a:extLst>
                    <a:ext uri="{9D8B030D-6E8A-4147-A177-3AD203B41FA5}">
                      <a16:colId xmlns:a16="http://schemas.microsoft.com/office/drawing/2014/main" val="2541589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Monthly Reward Cap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02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Up to $5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953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$4.99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Up to $10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43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Premium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$14.99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 to $25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03034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8972D2-D7C6-50DD-54F2-09982DD2EA71}"/>
              </a:ext>
            </a:extLst>
          </p:cNvPr>
          <p:cNvSpPr txBox="1"/>
          <p:nvPr/>
        </p:nvSpPr>
        <p:spPr>
          <a:xfrm>
            <a:off x="998034" y="3704273"/>
            <a:ext cx="70122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Free tier = trust &amp; learning</a:t>
            </a:r>
            <a:br>
              <a:rPr lang="en-US" sz="2800" dirty="0"/>
            </a:br>
            <a:r>
              <a:rPr lang="en-US" sz="2800" dirty="0"/>
              <a:t>Paid tiers = sustainability &amp; 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B996C-047E-A63E-AE17-43E574D6B4CF}"/>
              </a:ext>
            </a:extLst>
          </p:cNvPr>
          <p:cNvSpPr txBox="1"/>
          <p:nvPr/>
        </p:nvSpPr>
        <p:spPr>
          <a:xfrm>
            <a:off x="998034" y="4793774"/>
            <a:ext cx="66553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Premium ($14.99):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 cap: $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Bonus cap: $25 (if streak eligible)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IMPORTANT: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$25 is NOT additional — it is the maximum total payout</a:t>
            </a:r>
          </a:p>
        </p:txBody>
      </p:sp>
    </p:spTree>
    <p:extLst>
      <p:ext uri="{BB962C8B-B14F-4D97-AF65-F5344CB8AC3E}">
        <p14:creationId xmlns:p14="http://schemas.microsoft.com/office/powerpoint/2010/main" val="2475713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7657-F204-FE2D-FD36-539D7B34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Rewards Economics (Why This Works)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604E7-4C8B-CC29-F68D-DA663BB48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Subscription funds rewards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all users redeem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Monthly caps limit 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Reward aggregators reduce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Premium users subsidize free users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Rewards are a </a:t>
            </a:r>
            <a:r>
              <a:rPr lang="en-US" b="1" dirty="0"/>
              <a:t>growth engine</a:t>
            </a:r>
            <a:r>
              <a:rPr lang="en-US" dirty="0"/>
              <a:t>, not a cost center.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691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7877-E9A2-17D6-8B87-19142CAB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Worst-Case 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55842-01FE-107E-A0DF-06E5683CF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redemption &lt; 60% of cap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Daily and monthly earning limits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Redemption friction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Behavioral breakage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Adjustable point math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Built to survive even aggressive usage.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102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8DED-B9C8-F8CF-28BB-68CBB1FA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0176-3339-7D71-6242-F63AC227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439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Competitive Landscape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219AF9-6210-BB30-D182-39105632E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70599"/>
              </p:ext>
            </p:extLst>
          </p:nvPr>
        </p:nvGraphicFramePr>
        <p:xfrm>
          <a:off x="793596" y="1255793"/>
          <a:ext cx="10604808" cy="495543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767468">
                  <a:extLst>
                    <a:ext uri="{9D8B030D-6E8A-4147-A177-3AD203B41FA5}">
                      <a16:colId xmlns:a16="http://schemas.microsoft.com/office/drawing/2014/main" val="3505204009"/>
                    </a:ext>
                  </a:extLst>
                </a:gridCol>
                <a:gridCol w="1767468">
                  <a:extLst>
                    <a:ext uri="{9D8B030D-6E8A-4147-A177-3AD203B41FA5}">
                      <a16:colId xmlns:a16="http://schemas.microsoft.com/office/drawing/2014/main" val="2664554747"/>
                    </a:ext>
                  </a:extLst>
                </a:gridCol>
                <a:gridCol w="1767468">
                  <a:extLst>
                    <a:ext uri="{9D8B030D-6E8A-4147-A177-3AD203B41FA5}">
                      <a16:colId xmlns:a16="http://schemas.microsoft.com/office/drawing/2014/main" val="1317086741"/>
                    </a:ext>
                  </a:extLst>
                </a:gridCol>
                <a:gridCol w="1767468">
                  <a:extLst>
                    <a:ext uri="{9D8B030D-6E8A-4147-A177-3AD203B41FA5}">
                      <a16:colId xmlns:a16="http://schemas.microsoft.com/office/drawing/2014/main" val="2183167556"/>
                    </a:ext>
                  </a:extLst>
                </a:gridCol>
                <a:gridCol w="1767468">
                  <a:extLst>
                    <a:ext uri="{9D8B030D-6E8A-4147-A177-3AD203B41FA5}">
                      <a16:colId xmlns:a16="http://schemas.microsoft.com/office/drawing/2014/main" val="3430398093"/>
                    </a:ext>
                  </a:extLst>
                </a:gridCol>
                <a:gridCol w="1767468">
                  <a:extLst>
                    <a:ext uri="{9D8B030D-6E8A-4147-A177-3AD203B41FA5}">
                      <a16:colId xmlns:a16="http://schemas.microsoft.com/office/drawing/2014/main" val="1623271076"/>
                    </a:ext>
                  </a:extLst>
                </a:gridCol>
              </a:tblGrid>
              <a:tr h="29745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Est. Users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on Market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Funding Raised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Approx. Valuation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770038102"/>
                  </a:ext>
                </a:extLst>
              </a:tr>
              <a:tr h="63662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Lock&amp;Stock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 for no phone use in class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~67,500 registered students reported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Founded 2017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Unknown / bootstrapped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Unknown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53609890"/>
                  </a:ext>
                </a:extLst>
              </a:tr>
              <a:tr h="63662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Pocket Points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Rewards for phone-off time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Available since 2014; adoption at 200+ campuses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Founded 2014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public VC data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Unknown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94566207"/>
                  </a:ext>
                </a:extLst>
              </a:tr>
              <a:tr h="636624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Habitica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Gamified habit/task tracker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 of thousands+ </a:t>
                      </a:r>
                    </a:p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(open source community)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Founded 2013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Kickstarter ~$41k; no known VC rounds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 / Small indie (est. &lt;$10M)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74136278"/>
                  </a:ext>
                </a:extLst>
              </a:tr>
              <a:tr h="75480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Fabulous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Science-based habit &amp; routines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500k+ downloads </a:t>
                      </a:r>
                    </a:p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 (86k ratings); </a:t>
                      </a:r>
                    </a:p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~585k ratings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Mid-2010s </a:t>
                      </a:r>
                    </a:p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2014–15)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VC-backed </a:t>
                      </a:r>
                    </a:p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(raised funding — reports on CB Insights data)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Undisclosed – likely several $10M+ (VC backed)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855909360"/>
                  </a:ext>
                </a:extLst>
              </a:tr>
              <a:tr h="82054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LockedIn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</a:p>
                    <a:p>
                      <a:pPr algn="ctr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HabitTracker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Focus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Habit + earn coins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small/early (App Store ratings low)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Appears recent </a:t>
                      </a:r>
                    </a:p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(2023+) — indie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public funding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Minimal/indie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172349124"/>
                  </a:ext>
                </a:extLst>
              </a:tr>
              <a:tr h="437659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Coach.me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Habit &amp; coaching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Unknown public user numbers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Founded 2011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VC backing historically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Est. ~$10M–$30M+ (earlier growth)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191297207"/>
                  </a:ext>
                </a:extLst>
              </a:tr>
              <a:tr h="29745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Beeminder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Commitment tracker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Small/micro niche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~2011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Bootstrapped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$10M est.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253530911"/>
                  </a:ext>
                </a:extLst>
              </a:tr>
              <a:tr h="43765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StickK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Commitment contracts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Unknown (academic use)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~2007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Supported by larger institutions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87814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227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C3D03-0EA9-242B-CB07-C3F96492B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Competitive Landscape: Digital Wellbeing &amp; Habit Apps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CD40B1-92A6-9544-1327-B0C5D7620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962156"/>
              </p:ext>
            </p:extLst>
          </p:nvPr>
        </p:nvGraphicFramePr>
        <p:xfrm>
          <a:off x="838200" y="1690688"/>
          <a:ext cx="10515600" cy="437442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285409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535080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315620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925472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479369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84405785"/>
                    </a:ext>
                  </a:extLst>
                </a:gridCol>
              </a:tblGrid>
              <a:tr h="564062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App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Tracks Screen Time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Habit Tracking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Rewards / Points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Real-World Incentives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Focus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721345476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Lock&amp;Stock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Reduce phone use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597204348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Pocket Points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 (discounts)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Phone avoidance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751952015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Focus Friend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 (in-app)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Focus sessions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830424936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Habitica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Gamified habits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97104633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Habit Tracker (Rewards)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Habit building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62485894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BePresent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 (awareness)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Mindfulness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221958301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AppBlock / Freedom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❌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App blocking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645620466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⚡ Niyama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✅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Behavior change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568312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858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65F5-D794-A658-12D2-EFD5C3A8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Why Niyama Wins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4850-FD50-14BB-8C8F-3034DE660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 accountability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Tangible rewards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Harder to cheat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retention loops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Platform potential with brands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not just a habit app — it’s a </a:t>
            </a:r>
            <a:r>
              <a:rPr lang="en-US" b="1" dirty="0"/>
              <a:t>behavior layer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043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A24A-D792-16E0-BAA0-D5EC38D1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9CB54-7C8F-13D4-64B2-E254C24B6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Subscription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Reward partnerships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Aggregator discounts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Long-term brand sponsorships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Clear path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Positive unit economics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Scale without burn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Optional enterprise partnerships later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838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0C55-96F1-8AD5-63CF-4F11AEEE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Go-To-Market (Early)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28D20-8008-B9EA-015F-5D136BB8E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Friends &amp; family beta (15–20 users)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Internal Dogfooding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Feedback-driven iteration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retention &gt;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Prove habit compliance first</a:t>
            </a:r>
          </a:p>
        </p:txBody>
      </p:sp>
    </p:spTree>
    <p:extLst>
      <p:ext uri="{BB962C8B-B14F-4D97-AF65-F5344CB8AC3E}">
        <p14:creationId xmlns:p14="http://schemas.microsoft.com/office/powerpoint/2010/main" val="3212593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622CA7-4DC7-4803-0396-E04CEE44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0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Estimated Cost to Reach Pre-Seed Ready Prototype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BB3326-C7A0-A64B-5422-B1D31806C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243774"/>
              </p:ext>
            </p:extLst>
          </p:nvPr>
        </p:nvGraphicFramePr>
        <p:xfrm>
          <a:off x="838200" y="1427641"/>
          <a:ext cx="10213932" cy="48368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557392">
                  <a:extLst>
                    <a:ext uri="{9D8B030D-6E8A-4147-A177-3AD203B41FA5}">
                      <a16:colId xmlns:a16="http://schemas.microsoft.com/office/drawing/2014/main" val="2890024063"/>
                    </a:ext>
                  </a:extLst>
                </a:gridCol>
                <a:gridCol w="4421688">
                  <a:extLst>
                    <a:ext uri="{9D8B030D-6E8A-4147-A177-3AD203B41FA5}">
                      <a16:colId xmlns:a16="http://schemas.microsoft.com/office/drawing/2014/main" val="2933129648"/>
                    </a:ext>
                  </a:extLst>
                </a:gridCol>
                <a:gridCol w="2234852">
                  <a:extLst>
                    <a:ext uri="{9D8B030D-6E8A-4147-A177-3AD203B41FA5}">
                      <a16:colId xmlns:a16="http://schemas.microsoft.com/office/drawing/2014/main" val="2560486207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Covers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Cost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156795316"/>
                  </a:ext>
                </a:extLst>
              </a:tr>
              <a:tr h="58801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Company incorporation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Delaware C-Corp via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Clerky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/Stripe Atlas, registered agent, legal templates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$800 – $1,200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14190209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+ email setup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name + Google Workspace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 – $80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762610630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infrastructure (3–6 months)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Vercel hosting, Supabase backend, analytics, error tracking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$60 – $300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686745167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tools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GitHub, Figma, project management, AI coding tools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 – $150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78045075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 payouts (dogfooding – 20 users)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$5/user/month for 3 months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$300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85044072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 payouts (beta – 100–200 users)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$5/user/month for 2–3 months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$1,000 – $3,000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73417151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 App Store developer account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iOS publishing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$99/year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07629985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Play developer account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Android publishing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$25 one-time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658099010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services / devices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TestFlight, Play Console, minor device testing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 – $200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72546862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startup expenses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legal, accounting, incidentals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$200 – $500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382143430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Estimated Cost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Reach Pre-Seed Ready Prototype (6-month runway)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$4000 – $5000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139088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88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A32A0-47D5-C034-2929-9CD89FA0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Team &amp; Equity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01CC1-6B2E-3DEE-3690-32E1F6F3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057"/>
            <a:ext cx="6593958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CEO: Vision, execution, partnerships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CTO: Tech architecture &amp;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Lead: UX, habit psychology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Ops/Admin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Advisors </a:t>
            </a:r>
          </a:p>
          <a:p>
            <a:pPr marL="0" indent="0">
              <a:buNone/>
            </a:pPr>
            <a:r>
              <a:rPr lang="en-US" dirty="0"/>
              <a:t>(Behavior science, health, partnerships)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Clear ownership. Clear accountability.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A5B1FC-5F96-5E56-CB3D-6F5F2EB51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4776"/>
              </p:ext>
            </p:extLst>
          </p:nvPr>
        </p:nvGraphicFramePr>
        <p:xfrm>
          <a:off x="7336466" y="1814188"/>
          <a:ext cx="4359348" cy="283464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726447">
                  <a:extLst>
                    <a:ext uri="{9D8B030D-6E8A-4147-A177-3AD203B41FA5}">
                      <a16:colId xmlns:a16="http://schemas.microsoft.com/office/drawing/2014/main" val="879162501"/>
                    </a:ext>
                  </a:extLst>
                </a:gridCol>
                <a:gridCol w="1632901">
                  <a:extLst>
                    <a:ext uri="{9D8B030D-6E8A-4147-A177-3AD203B41FA5}">
                      <a16:colId xmlns:a16="http://schemas.microsoft.com/office/drawing/2014/main" val="389540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78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473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429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178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Ops/Admin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848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Advisors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800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 A Dilution/Option Pool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23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900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A682-AC37-0178-4883-64989460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E777-52BB-5105-5BDA-FABEFE216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Niyama aims to become: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default habit accountability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trusted reward ecosystem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behavior data platform for wellness brands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Rewarding good behavior — at scale.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40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1295</Words>
  <Application>Microsoft Macintosh PowerPoint</Application>
  <PresentationFormat>Widescreen</PresentationFormat>
  <Paragraphs>343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Niyama</vt:lpstr>
      <vt:lpstr>The Problem</vt:lpstr>
      <vt:lpstr>Why Existing Solutions Fall Short</vt:lpstr>
      <vt:lpstr>The Insight</vt:lpstr>
      <vt:lpstr>The Solution: Niyama</vt:lpstr>
      <vt:lpstr>Core Habits Tracked (MVP)</vt:lpstr>
      <vt:lpstr>Anti-Cheat &amp; Verification</vt:lpstr>
      <vt:lpstr>Motivation Model  (Points &amp; Rewards System)</vt:lpstr>
      <vt:lpstr>Motivation Model  (Points &amp; Rewards System)</vt:lpstr>
      <vt:lpstr>Point Deductions (Fair &amp; Humane)</vt:lpstr>
      <vt:lpstr>Membership Tiers</vt:lpstr>
      <vt:lpstr>Rewards Economics (Why This Works)</vt:lpstr>
      <vt:lpstr>Worst-Case Risk Management</vt:lpstr>
      <vt:lpstr>Competitive Landscape</vt:lpstr>
      <vt:lpstr>Competitive Landscape: Digital Wellbeing &amp; Habit Apps</vt:lpstr>
      <vt:lpstr>Why Niyama Wins</vt:lpstr>
      <vt:lpstr>Business Model</vt:lpstr>
      <vt:lpstr>Go-To-Market (Early)</vt:lpstr>
      <vt:lpstr>Estimated Cost to Reach Pre-Seed Ready Prototype</vt:lpstr>
      <vt:lpstr>Team &amp; Equity Structure</vt:lpstr>
      <vt:lpstr>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Inamdar</dc:creator>
  <cp:lastModifiedBy>Sahil Inamdar</cp:lastModifiedBy>
  <cp:revision>7</cp:revision>
  <dcterms:created xsi:type="dcterms:W3CDTF">2026-02-06T00:03:38Z</dcterms:created>
  <dcterms:modified xsi:type="dcterms:W3CDTF">2026-03-18T17:29:25Z</dcterms:modified>
</cp:coreProperties>
</file>